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855" r:id="rId4"/>
    <p:sldId id="856" r:id="rId5"/>
    <p:sldId id="258" r:id="rId6"/>
    <p:sldId id="259" r:id="rId7"/>
    <p:sldId id="857" r:id="rId8"/>
    <p:sldId id="858" r:id="rId9"/>
    <p:sldId id="263" r:id="rId10"/>
    <p:sldId id="264" r:id="rId11"/>
    <p:sldId id="859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35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24" y="1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B1B1B"/>
                </a:solidFill>
                <a:latin typeface="Calibri"/>
              </a:defRPr>
            </a:pPr>
            <a:r>
              <a:rPr lang="en-US" sz="1500" b="0" i="0" u="none" strike="noStrike">
                <a:solidFill>
                  <a:srgbClr val="1B1B1B"/>
                </a:solidFill>
                <a:latin typeface="Calibri"/>
              </a:rPr>
              <a:t>Relative Error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Error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5DC-FC40-A987-61D169578B6D}"/>
              </c:ext>
            </c:extLst>
          </c:dPt>
          <c:dPt>
            <c:idx val="1"/>
            <c:invertIfNegative val="0"/>
            <c:bubble3D val="0"/>
            <c:spPr>
              <a:solidFill>
                <a:srgbClr val="B23A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5DC-FC40-A987-61D169578B6D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PyTorch FFNN
(400-dim target)</c:v>
                </c:pt>
                <c:pt idx="1">
                  <c:v>ChemML MLP
(1-dim proxy)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5.3</c:v>
                </c:pt>
                <c:pt idx="1">
                  <c:v>21.61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5DC-FC40-A987-61D169578B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Relative Error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304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A3E4B-0E24-4BB4-73E4-CFA0FB5C4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7C839D-EC28-07BE-DA42-CD7173A9D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40F8DB5-8DD1-F472-5023-83896155810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let’s move into the main theory I work with: Resonating Hartree–Fock, or ResHF.</a:t>
                </a:r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ResHF wavefunction is 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linear combination of nonorthogonal Slater determinants.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Each determinant is built from its own set of orbitals, and all these orbitals are orthonormal.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 ResHF, we don’t just optimize one determinant,</a:t>
                </a:r>
                <a:r>
                  <a:rPr lang="en-US" sz="1200" b="0" i="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 solve for both the molecular</a:t>
                </a:r>
                <a:r>
                  <a:rPr lang="en-US" sz="1200" b="0" i="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orbitals for each determinant</a:t>
                </a:r>
                <a:r>
                  <a:rPr lang="en-US" sz="1200" b="0" i="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𝜙</m:t>
                        </m:r>
                      </m:e>
                      <m:sub>
                        <m:r>
                          <a:rPr lang="en-US" sz="12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𝜙</m:t>
                        </m:r>
                      </m:e>
                      <m:sub>
                        <m:r>
                          <a:rPr lang="en-US" sz="12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the </a:t>
                </a:r>
                <a:r>
                  <a:rPr lang="en-US" sz="12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expansion coefficients (C</a:t>
                </a:r>
                <a:r>
                  <a:rPr lang="en-US" sz="1200" b="1" baseline="-25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IA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that tell us how much of each determinant is in the final wavefunction. 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But there’s a problem.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ResHF struggles to converge for larger or more complex systems.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Now, let’s move into the main theory I work with: Resonating Hartree–Fock, or ResHF.</a:t>
                </a:r>
              </a:p>
              <a:p>
                <a:endParaRPr lang="en-US" dirty="0"/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ResHF wavefunction is a….  is a sum of several different Slater determinants.</a:t>
                </a:r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Each determinant is built from its own set of orbitals, and all these orbitals are orthonormal; that means each set is like a clear, separate basis for electrons.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 ResHF, we don’t just optimize one determinant,</a:t>
                </a:r>
                <a:r>
                  <a:rPr lang="en-US" sz="1200" b="0" i="0" kern="1200" baseline="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 solve for both the orbitals (shown here as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𝜙_𝑝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 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𝜙_𝑞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the </a:t>
                </a:r>
                <a:r>
                  <a:rPr lang="en-US" sz="12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expansion coefficients (C</a:t>
                </a:r>
                <a:r>
                  <a:rPr lang="en-US" sz="1200" b="1" baseline="-25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IA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that tell us how much of each determinant is in the final wavefunction. 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But there’s a problem.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remain challenge in ResHF is convergence limitations. These calculations don’t always settle down to a stable answer, especially as the system gets bigger or more complicated.</a:t>
                </a:r>
              </a:p>
              <a:p>
                <a:b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 a result, even though ResHF is very powerful tool, it’s often too hard to use for large or complex molecules—unless we can solve the convergence problem.</a:t>
                </a:r>
              </a:p>
              <a:p>
                <a:br>
                  <a:rPr lang="en-US" dirty="0"/>
                </a:br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DA425-92CD-1DCC-48A8-83F899A11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3EF29-6E99-9C40-A6AB-183D8B47C2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3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682A-57E9-D87B-FC81-42E4A3768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9A65A-D570-7E1C-4125-974ABB2FD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93B4A-2B9E-8D8A-2C30-E533B676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12D55-BB90-904F-909F-7A7248DA2A5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6C329-DC59-793B-85DE-41B2992E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496F4-B50C-BDB3-5FE9-9BC4B294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EEB65-A5FC-0943-BBD3-DCCC9905D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93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CYBERTRAINING 2026  •  CAPSTONE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Approximation of Hessian Components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Accelerated CASSCF Optimization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 Resonating Hartree-Fock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Qabas Mohammad Al Khatib (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PhD candidate)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solidFill>
                  <a:srgbClr val="B9C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Chemistry, Case Western Reserve University
Advisor: Dr. Shane M. Parker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MOTIVATION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Hessian Information Matters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63040" y="162763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Resonating Hartree-Fock (ResHF) is designed for strongly correlated systems using nonorthogonal Slater determinants.</a:t>
            </a:r>
            <a:endParaRPr lang="en-US" sz="1600" dirty="0">
              <a:effectLst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63040" y="267919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Its optimization simultaneously adjusts both orbital coefficients and CI weights — a fully coupled, nonlinear problem that often fails to converge.</a:t>
            </a:r>
            <a:endParaRPr lang="en-US" sz="1600" dirty="0">
              <a:effectLst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63040" y="373075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Second-order methods (like Newton-Raphson) use the Hessian for reliable convergence, but computing the exact Hessian is very expensive.</a:t>
            </a:r>
            <a:endParaRPr lang="en-US" sz="1600" dirty="0">
              <a:effectLst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63040" y="478231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600" dirty="0"/>
              <a:t>This project asks a practical question: Can machine learning approximate key Hessian components from much cheaper features, starting with CASSCF as a testbed?</a:t>
            </a:r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F920-0C4D-9A1E-0A43-C0D7E6216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36174-CDAB-3E2C-267B-5C5C286B1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645" y="882343"/>
            <a:ext cx="11353543" cy="555609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ResHF Wave Function: 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combination of nonorthogonal Slater determinants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nonorthogonal sets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molecular orbitals: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/>
              <a:t>Optimization involves both: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D2729A-BC6D-DDA8-9647-49E41CA9E35A}"/>
              </a:ext>
            </a:extLst>
          </p:cNvPr>
          <p:cNvSpPr txBox="1">
            <a:spLocks/>
          </p:cNvSpPr>
          <p:nvPr/>
        </p:nvSpPr>
        <p:spPr>
          <a:xfrm>
            <a:off x="0" y="-6458"/>
            <a:ext cx="12192000" cy="8343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Introducing Resonating Hartree-Fock (ResHF)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5E611-77B5-1721-9279-1BA41A87B9A4}"/>
              </a:ext>
            </a:extLst>
          </p:cNvPr>
          <p:cNvSpPr txBox="1"/>
          <p:nvPr/>
        </p:nvSpPr>
        <p:spPr>
          <a:xfrm>
            <a:off x="238695" y="6262040"/>
            <a:ext cx="5857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Fukutome, H. Theory of resonating quantum fluctuations in a fermion system: Resonating Hartree-Fock approximation. Progress of Theoretical Physics 1988, 80, 417–432.</a:t>
            </a:r>
          </a:p>
        </p:txBody>
      </p:sp>
      <p:sp>
        <p:nvSpPr>
          <p:cNvPr id="24" name="Slide Number Placeholder 11">
            <a:extLst>
              <a:ext uri="{FF2B5EF4-FFF2-40B4-BE49-F238E27FC236}">
                <a16:creationId xmlns:a16="http://schemas.microsoft.com/office/drawing/2014/main" id="{63636FF6-E083-0A3A-515B-F62A264BC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F4714B84-60F4-724C-B2D1-0330155E8D01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1852A4-21C7-55C2-EF4B-2630DCEAE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232" y="2444192"/>
            <a:ext cx="4256095" cy="2118914"/>
          </a:xfrm>
          <a:prstGeom prst="rect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</p:pic>
      <p:pic>
        <p:nvPicPr>
          <p:cNvPr id="13" name="Picture 12">
            <a:hlinkClick r:id="" action="ppaction://noaction"/>
            <a:extLst>
              <a:ext uri="{FF2B5EF4-FFF2-40B4-BE49-F238E27FC236}">
                <a16:creationId xmlns:a16="http://schemas.microsoft.com/office/drawing/2014/main" id="{C4A3F86B-224C-49CF-AD36-386C81C4B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232" y="4974252"/>
            <a:ext cx="4256096" cy="1334036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F1AC690-A584-9FB1-5F0C-5B82102F86C2}"/>
              </a:ext>
            </a:extLst>
          </p:cNvPr>
          <p:cNvGrpSpPr/>
          <p:nvPr/>
        </p:nvGrpSpPr>
        <p:grpSpPr>
          <a:xfrm>
            <a:off x="1596189" y="1539008"/>
            <a:ext cx="8474919" cy="689480"/>
            <a:chOff x="1484260" y="1657255"/>
            <a:chExt cx="8474919" cy="68948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F8C4D4E-15B7-B9D2-EAA0-7848BD35962C}"/>
                </a:ext>
              </a:extLst>
            </p:cNvPr>
            <p:cNvGrpSpPr/>
            <p:nvPr/>
          </p:nvGrpSpPr>
          <p:grpSpPr>
            <a:xfrm>
              <a:off x="1484260" y="1657255"/>
              <a:ext cx="8474919" cy="689480"/>
              <a:chOff x="1205290" y="1552134"/>
              <a:chExt cx="8474919" cy="68948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8BDE323-C209-1AF7-5166-C46003C09E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5290" y="1552134"/>
                <a:ext cx="5681827" cy="68948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46108C-76C4-C53A-C717-E38EB1A47C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97690" y="1586077"/>
                <a:ext cx="1882519" cy="641147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EEC636-093E-97CE-4E4D-461E84E0C6C4}"/>
                </a:ext>
              </a:extLst>
            </p:cNvPr>
            <p:cNvSpPr txBox="1"/>
            <p:nvPr/>
          </p:nvSpPr>
          <p:spPr>
            <a:xfrm>
              <a:off x="7166087" y="1788655"/>
              <a:ext cx="10903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where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8313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Hessian Cost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ferrocene, SCF-NR/ def2-SVP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126480" cy="868680"/>
          </a:xfrm>
          <a:prstGeom prst="roundRect">
            <a:avLst>
              <a:gd name="adj" fmla="val 6316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functions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25856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221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6126480" cy="868680"/>
          </a:xfrm>
          <a:prstGeom prst="roundRect">
            <a:avLst>
              <a:gd name="adj" fmla="val 6316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95351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26440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→ occupied orbitals n_occ = 48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6126480" cy="868680"/>
          </a:xfrm>
          <a:prstGeom prst="roundRect">
            <a:avLst>
              <a:gd name="adj" fmla="val 6316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95935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orbitals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27024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n_vir = n − n_occ = 221 − 48 = 173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6126480" cy="868680"/>
          </a:xfrm>
          <a:prstGeom prst="roundRect">
            <a:avLst>
              <a:gd name="adj" fmla="val 6316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965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rotation-space dimension</a:t>
            </a:r>
          </a:p>
        </p:txBody>
      </p:sp>
      <p:sp>
        <p:nvSpPr>
          <p:cNvPr id="16" name="Text 14"/>
          <p:cNvSpPr/>
          <p:nvPr/>
        </p:nvSpPr>
        <p:spPr>
          <a:xfrm>
            <a:off x="868680" y="5276088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n_occ × n_vir = 48 × 173 = 8,304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040880" y="1874520"/>
            <a:ext cx="4480560" cy="4023360"/>
          </a:xfrm>
          <a:prstGeom prst="roundRect">
            <a:avLst>
              <a:gd name="adj" fmla="val 2273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69480" y="2103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Hessian size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9480" y="2568630"/>
            <a:ext cx="4023360" cy="1390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8,304 × 8,304 </a:t>
            </a: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69 million entries</a:t>
            </a:r>
          </a:p>
        </p:txBody>
      </p:sp>
      <p:sp>
        <p:nvSpPr>
          <p:cNvPr id="21" name="Text 19"/>
          <p:cNvSpPr/>
          <p:nvPr/>
        </p:nvSpPr>
        <p:spPr>
          <a:xfrm>
            <a:off x="7211918" y="4208755"/>
            <a:ext cx="4023360" cy="1722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Full Hessian size: ~69 million entries; rebuilt (or inverted) at every optimization step.</a:t>
            </a:r>
          </a:p>
        </p:txBody>
      </p:sp>
      <p:sp>
        <p:nvSpPr>
          <p:cNvPr id="23" name="Text 21"/>
          <p:cNvSpPr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This is why exact second-order methods become impractical for larger systems.</a:t>
            </a:r>
            <a:endParaRPr lang="en-US" sz="1400" dirty="0">
              <a:effectLst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8752D40-5DCA-CB10-365C-2E4240716F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51"/>
          <a:stretch>
            <a:fillRect/>
          </a:stretch>
        </p:blipFill>
        <p:spPr>
          <a:xfrm>
            <a:off x="9126597" y="101875"/>
            <a:ext cx="2968402" cy="1749825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28E1B65F-CD23-B59E-0EEE-C7CD56B5BD8F}"/>
              </a:ext>
            </a:extLst>
          </p:cNvPr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MOTIVATION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45017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Idea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9584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cheap SCF-level features predict expensive Hessian information?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25512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6901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SCF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147304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low-cost features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(gradients, energies,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norms, statistics)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39312" y="3092440"/>
            <a:ext cx="502920" cy="329184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2525512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26901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3147304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Feedforward Neural Network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→ 64 → 64 → 400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71232" y="3092440"/>
            <a:ext cx="502920" cy="329184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95360" y="2525512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32520" y="26901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Hessian Diagonal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2520" y="3147304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400-diminsional ci_hdiag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(approximated)</a:t>
            </a:r>
            <a:endParaRPr lang="en-US" sz="1200" dirty="0"/>
          </a:p>
        </p:txBody>
      </p:sp>
      <p:pic>
        <p:nvPicPr>
          <p:cNvPr id="16" name="Image 0" descr="/home/claude/deck/eq/eq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4508818"/>
            <a:ext cx="6400800" cy="8091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67781" y="5596771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cheap SCF-level descriptors contain enough information to approximate diagonal Hessian curvature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D1A13EB4-143D-DC85-58C7-33F0E36192DB}"/>
              </a:ext>
            </a:extLst>
          </p:cNvPr>
          <p:cNvSpPr/>
          <p:nvPr/>
        </p:nvSpPr>
        <p:spPr>
          <a:xfrm>
            <a:off x="640080" y="1620727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D51F7E13-AE77-D168-5225-AADC06C5D516}"/>
              </a:ext>
            </a:extLst>
          </p:cNvPr>
          <p:cNvSpPr/>
          <p:nvPr/>
        </p:nvSpPr>
        <p:spPr>
          <a:xfrm>
            <a:off x="640080" y="33459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kern="0" spc="150" dirty="0">
                <a:solidFill>
                  <a:srgbClr val="1C72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APPROACH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7"/>
          <p:cNvSpPr/>
          <p:nvPr/>
        </p:nvSpPr>
        <p:spPr>
          <a:xfrm>
            <a:off x="6096000" y="3794760"/>
            <a:ext cx="5440680" cy="2561215"/>
          </a:xfrm>
          <a:prstGeom prst="roundRect">
            <a:avLst>
              <a:gd name="adj" fmla="val 3265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2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/>
              <p:nvPr/>
            </p:nvSpPr>
            <p:spPr>
              <a:xfrm>
                <a:off x="6363148" y="4144400"/>
                <a:ext cx="4875904" cy="19135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</a:rPr>
                  <a:t>We focus on the </a:t>
                </a:r>
                <a:r>
                  <a:rPr lang="en-US" sz="1400" b="1" dirty="0">
                    <a:solidFill>
                      <a:schemeClr val="bg1"/>
                    </a:solidFill>
                    <a:effectLst/>
                  </a:rPr>
                  <a:t>CI Hessian diagonal block</a:t>
                </a:r>
                <a:r>
                  <a:rPr lang="en-US" sz="1400" dirty="0">
                    <a:solidFill>
                      <a:schemeClr val="bg1"/>
                    </a:solidFill>
                    <a:effectLst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𝑐𝑐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  <a:effectLst/>
                  </a:rPr>
                  <a:t>), specifically the vector ci_hdiag.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  <a:effectLst/>
                  </a:rPr>
                  <a:t>This part is readily available from PySCF.</a:t>
                </a:r>
              </a:p>
              <a:p>
                <a:endParaRPr lang="en-US" sz="1400" dirty="0">
                  <a:solidFill>
                    <a:schemeClr val="bg1"/>
                  </a:solidFill>
                  <a:effectLst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solidFill>
                      <a:schemeClr val="bg1"/>
                    </a:solidFill>
                    <a:effectLst/>
                  </a:rPr>
                  <a:t>Not addressed in this project</a:t>
                </a:r>
                <a:r>
                  <a:rPr lang="en-US" sz="1400" dirty="0">
                    <a:solidFill>
                      <a:schemeClr val="bg1"/>
                    </a:solidFill>
                    <a:effectLst/>
                  </a:rPr>
                  <a:t>: The full orbital-CI coupling block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  <a:effectLst/>
                  </a:rPr>
                  <a:t>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  <a:effectLst/>
                  </a:rPr>
                  <a:t>This is a genuine limitation of the current PySCF interface, not an oversight.</a:t>
                </a:r>
              </a:p>
            </p:txBody>
          </p:sp>
        </mc:Choice>
        <mc:Fallback xmlns="">
          <p:sp>
            <p:nvSpPr>
              <p:cNvPr id="3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148" y="4144400"/>
                <a:ext cx="4875904" cy="1913500"/>
              </a:xfrm>
              <a:prstGeom prst="rect">
                <a:avLst/>
              </a:prstGeom>
              <a:blipFill>
                <a:blip r:embed="rId3"/>
                <a:stretch>
                  <a:fillRect l="-260" b="-263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3"/>
          <p:cNvSpPr/>
          <p:nvPr/>
        </p:nvSpPr>
        <p:spPr>
          <a:xfrm>
            <a:off x="586292" y="146404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0612" y="152347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Second-order optimization solves the coupled Newton-Raphson update:</a:t>
            </a:r>
          </a:p>
        </p:txBody>
      </p:sp>
      <p:pic>
        <p:nvPicPr>
          <p:cNvPr id="7" name="Image 0" descr="/home/claude/deck/eq/eq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12" y="2057400"/>
            <a:ext cx="6675120" cy="10518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3794760"/>
            <a:ext cx="5257800" cy="2561216"/>
          </a:xfrm>
          <a:prstGeom prst="roundRect">
            <a:avLst>
              <a:gd name="adj" fmla="val 3265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Coupled Hessian</a:t>
            </a:r>
            <a:endParaRPr lang="en-US" sz="1400" dirty="0"/>
          </a:p>
        </p:txBody>
      </p:sp>
      <p:pic>
        <p:nvPicPr>
          <p:cNvPr id="10" name="Image 1" descr="/home/claude/deck/eq/eq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4389120"/>
            <a:ext cx="3200400" cy="13205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63148" y="3821243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Capstone's ML Target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1125" y="5897880"/>
            <a:ext cx="49785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/>
              <a:t>κ</a:t>
            </a:r>
            <a:r>
              <a:rPr lang="en-US" sz="1400" dirty="0"/>
              <a:t> =orbital rotation parameters, c = CI coefficients</a:t>
            </a:r>
          </a:p>
        </p:txBody>
      </p:sp>
      <p:sp>
        <p:nvSpPr>
          <p:cNvPr id="15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cs typeface="Calibri" pitchFamily="34" charset="-120"/>
              </a:rPr>
              <a:t>6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E76C55-BF76-B2D4-565F-9385AA0487D3}"/>
                  </a:ext>
                </a:extLst>
              </p:cNvPr>
              <p:cNvSpPr txBox="1"/>
              <p:nvPr/>
            </p:nvSpPr>
            <p:spPr>
              <a:xfrm>
                <a:off x="7680088" y="2940796"/>
                <a:ext cx="392562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is the full Hessian and </a:t>
                </a:r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is the gradient.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E76C55-BF76-B2D4-565F-9385AA048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088" y="2940796"/>
                <a:ext cx="3925620" cy="307777"/>
              </a:xfrm>
              <a:prstGeom prst="rect">
                <a:avLst/>
              </a:prstGeom>
              <a:blipFill>
                <a:blip r:embed="rId6"/>
                <a:stretch>
                  <a:fillRect t="-4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065A82"/>
                </a:solidFill>
                <a:latin typeface="Cambria" pitchFamily="34" charset="0"/>
              </a:rPr>
              <a:t>Data: CASSCF Data Generation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i="1" dirty="0">
                <a:solidFill>
                  <a:srgbClr val="5A6B75"/>
                </a:solidFill>
                <a:latin typeface="Calibri" pitchFamily="34" charset="0"/>
                <a:cs typeface="Calibri" pitchFamily="34" charset="-120"/>
              </a:rPr>
              <a:t>INVEST Molecule Set:  </a:t>
            </a: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cs typeface="Calibri" pitchFamily="34" charset="-120"/>
              </a:rPr>
              <a:t>Pollice et al., Matter 4, 1654–1682 (2021)</a:t>
            </a:r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6479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23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 converged (of staged)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0" y="176479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(6,6)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80560" y="23591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space, def2-SVP basis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16916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55280" y="176479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35915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SCF-level input features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Held-Out Test Molecules (6)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429000" cy="777240"/>
          </a:xfrm>
          <a:prstGeom prst="roundRect">
            <a:avLst>
              <a:gd name="adj" fmla="val 8235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molecule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51960" y="3429000"/>
            <a:ext cx="3429000" cy="777240"/>
          </a:xfrm>
          <a:prstGeom prst="roundRect">
            <a:avLst>
              <a:gd name="adj" fmla="val 8235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34840" y="3520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34840" y="39319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molecule 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63840" y="3429000"/>
            <a:ext cx="3429000" cy="777240"/>
          </a:xfrm>
          <a:prstGeom prst="roundRect">
            <a:avLst>
              <a:gd name="adj" fmla="val 8235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46720" y="35204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S1180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720" y="39319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molecule 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343400"/>
            <a:ext cx="3429000" cy="777240"/>
          </a:xfrm>
          <a:prstGeom prst="roundRect">
            <a:avLst>
              <a:gd name="adj" fmla="val 8235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44348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S1010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48463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molecule 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51960" y="4343400"/>
            <a:ext cx="3429000" cy="777240"/>
          </a:xfrm>
          <a:prstGeom prst="roundRect">
            <a:avLst>
              <a:gd name="adj" fmla="val 8235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34840" y="44348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S1050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434840" y="48463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molecule 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63840" y="4343400"/>
            <a:ext cx="3429000" cy="777240"/>
          </a:xfrm>
          <a:prstGeom prst="roundRect">
            <a:avLst>
              <a:gd name="adj" fmla="val 8235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46720" y="44348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S1090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46720" y="484632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molecule 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5166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additional molecules used for training, drawn from the same INVEST benchmark set</a:t>
            </a:r>
            <a:endParaRPr lang="en-US" sz="1200" b="1" dirty="0"/>
          </a:p>
        </p:txBody>
      </p:sp>
      <p:sp>
        <p:nvSpPr>
          <p:cNvPr id="34" name="Shape 32"/>
          <p:cNvSpPr/>
          <p:nvPr/>
        </p:nvSpPr>
        <p:spPr>
          <a:xfrm>
            <a:off x="640080" y="5577840"/>
            <a:ext cx="10607040" cy="1051560"/>
          </a:xfrm>
          <a:prstGeom prst="roundRect">
            <a:avLst>
              <a:gd name="adj" fmla="val 6087"/>
            </a:avLst>
          </a:prstGeom>
          <a:solidFill>
            <a:srgbClr val="1621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41248" y="5742432"/>
            <a:ext cx="146304" cy="146304"/>
          </a:xfrm>
          <a:prstGeom prst="ellipse">
            <a:avLst/>
          </a:prstGeom>
          <a:solidFill>
            <a:srgbClr val="E553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97280" y="5742432"/>
            <a:ext cx="146304" cy="1463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353312" y="5742432"/>
            <a:ext cx="146304" cy="146304"/>
          </a:xfrm>
          <a:prstGeom prst="ellipse">
            <a:avLst/>
          </a:prstGeom>
          <a:solidFill>
            <a:srgbClr val="3FB68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737360" y="5696712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— verified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y_test, names_train, names_test = train_test_split(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np.array(names), test_size=6, random_state=42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INVEST Molecule Structures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structures from the nitrogen-rich fused-ring INVEST scaffold 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" y="182880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3/mols/S1000_b3lyp_iso0_02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325061"/>
            <a:ext cx="3063240" cy="28479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9536" y="544068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54406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S1000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34256" y="182880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ck3/mols/S1010_b3lyp_iso0_02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2280606"/>
            <a:ext cx="3063240" cy="293686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08576" y="544068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608576" y="54406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S1010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8083296" y="182880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ck3/mols/S1120_b3lyp_iso0_02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2625467"/>
            <a:ext cx="3063240" cy="2247147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357616" y="544068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8357616" y="54406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S1120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Nitrogen-rich, fused polycyclic frameworks with varying substitution patterns — consistent with the structural diversity of the Pollice et al. INVEST benchmark set.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/>
              <a:t>Because orbital space sizes vary across molecules, we summarize the data into 12 fixed-size features per molecule:</a:t>
            </a:r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statistics (g_orb)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Hessian-diagonal statistics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coefficient statistics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60604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norms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10896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3017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10896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3017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Active-space size descriptors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10607040" cy="16459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1F41B5-E7AF-2729-8FB8-78DCC0E2E199}"/>
              </a:ext>
            </a:extLst>
          </p:cNvPr>
          <p:cNvGrpSpPr/>
          <p:nvPr/>
        </p:nvGrpSpPr>
        <p:grpSpPr>
          <a:xfrm>
            <a:off x="877824" y="3589867"/>
            <a:ext cx="658368" cy="146304"/>
            <a:chOff x="932688" y="3776472"/>
            <a:chExt cx="658368" cy="146304"/>
          </a:xfrm>
        </p:grpSpPr>
        <p:sp>
          <p:nvSpPr>
            <p:cNvPr id="18" name="Shape 16"/>
            <p:cNvSpPr/>
            <p:nvPr/>
          </p:nvSpPr>
          <p:spPr>
            <a:xfrm>
              <a:off x="932688" y="3776472"/>
              <a:ext cx="146304" cy="146304"/>
            </a:xfrm>
            <a:prstGeom prst="ellipse">
              <a:avLst/>
            </a:prstGeom>
            <a:solidFill>
              <a:srgbClr val="E5534B"/>
            </a:solidFill>
            <a:ln w="1270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1188720" y="3776472"/>
              <a:ext cx="146304" cy="146304"/>
            </a:xfrm>
            <a:prstGeom prst="ellipse">
              <a:avLst/>
            </a:prstGeom>
            <a:solidFill>
              <a:srgbClr val="E8A33D"/>
            </a:solidFill>
            <a:ln w="1270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1444752" y="3776472"/>
              <a:ext cx="146304" cy="146304"/>
            </a:xfrm>
            <a:prstGeom prst="ellipse">
              <a:avLst/>
            </a:prstGeom>
            <a:solidFill>
              <a:srgbClr val="3FB68B"/>
            </a:solidFill>
            <a:ln w="1270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 19"/>
          <p:cNvSpPr/>
          <p:nvPr/>
        </p:nvSpPr>
        <p:spPr>
          <a:xfrm>
            <a:off x="1828800" y="3730752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feature_engineering — verified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91056" y="3611880"/>
            <a:ext cx="10058400" cy="1316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sklearn.model_selection</a:t>
            </a: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import </a:t>
            </a: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</a:t>
            </a: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preprocessing</a:t>
            </a:r>
            <a:r>
              <a:rPr lang="en-US" sz="1200" dirty="0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 import </a:t>
            </a: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StandardScaler</a:t>
            </a:r>
            <a:endParaRPr lang="en-US" sz="1200" dirty="0">
              <a:solidFill>
                <a:srgbClr val="D6E4F0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200" dirty="0">
              <a:solidFill>
                <a:srgbClr val="D6E4F0"/>
              </a:solidFill>
              <a:latin typeface="Courier New" pitchFamily="34" charset="0"/>
              <a:cs typeface="Courier New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scaler_X</a:t>
            </a:r>
            <a:r>
              <a:rPr lang="en-US" sz="1200" dirty="0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 = </a:t>
            </a: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StandardScaler</a:t>
            </a:r>
            <a:r>
              <a:rPr lang="en-US" sz="1200" dirty="0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(); </a:t>
            </a: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X_train_scaled</a:t>
            </a:r>
            <a:r>
              <a:rPr lang="en-US" sz="1200" dirty="0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 = </a:t>
            </a: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scaler_X.fit_transform</a:t>
            </a:r>
            <a:r>
              <a:rPr lang="en-US" sz="1200" dirty="0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X_train</a:t>
            </a:r>
            <a:r>
              <a:rPr lang="en-US" sz="1200" dirty="0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scaler_y</a:t>
            </a:r>
            <a:r>
              <a:rPr lang="en-US" sz="1200" dirty="0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 = </a:t>
            </a: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StandardScaler</a:t>
            </a:r>
            <a:r>
              <a:rPr lang="en-US" sz="1200" dirty="0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(); </a:t>
            </a: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y_train_scaled</a:t>
            </a:r>
            <a:r>
              <a:rPr lang="en-US" sz="1200" dirty="0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 = </a:t>
            </a: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scaler_y.fit_transform</a:t>
            </a:r>
            <a:r>
              <a:rPr lang="en-US" sz="1200" dirty="0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(</a:t>
            </a:r>
            <a:r>
              <a:rPr lang="en-US" sz="1200" dirty="0" err="1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y_train</a:t>
            </a:r>
            <a:r>
              <a:rPr lang="en-US" sz="1200" dirty="0">
                <a:solidFill>
                  <a:srgbClr val="D6E4F0"/>
                </a:solidFill>
                <a:latin typeface="Courier New" pitchFamily="34" charset="0"/>
                <a:cs typeface="Courier New" pitchFamily="34" charset="-120"/>
              </a:rPr>
              <a:t>)</a:t>
            </a:r>
          </a:p>
        </p:txBody>
      </p:sp>
      <p:sp>
        <p:nvSpPr>
          <p:cNvPr id="23" name="Shape 21"/>
          <p:cNvSpPr/>
          <p:nvPr/>
        </p:nvSpPr>
        <p:spPr>
          <a:xfrm>
            <a:off x="822960" y="5376672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1560" y="5449824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423160" y="5449824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molecules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5376672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46520" y="5449824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818120" y="5449824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F119F7-F763-62B5-A5E5-46A1272CE1CA}"/>
              </a:ext>
            </a:extLst>
          </p:cNvPr>
          <p:cNvSpPr txBox="1"/>
          <p:nvPr/>
        </p:nvSpPr>
        <p:spPr>
          <a:xfrm>
            <a:off x="2423160" y="6364224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This creates a consistent input for the neural network.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 Compared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3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solve different prediction tasks, not a direct architecture comparison.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 FFNN — Full Target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→  64  →  64  →  400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AF2F7"/>
                </a:solidFill>
                <a:latin typeface="Calibri" pitchFamily="34" charset="0"/>
                <a:cs typeface="Calibri" pitchFamily="34" charset="-120"/>
              </a:rPr>
              <a:t>Predicts the full 400-dimensional ci_hdiag vector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AF2F7"/>
                </a:solidFill>
                <a:latin typeface="Calibri" pitchFamily="34" charset="0"/>
                <a:cs typeface="Calibri" pitchFamily="34" charset="-120"/>
              </a:rPr>
              <a:t> ReLU hidden layers · MSE loss</a:t>
            </a:r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7F9F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ChemML MLP — Baseline Proxy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2514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→  64  →  64  →  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30632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Single-output regression by design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only the mean of ci_hdiag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10607040" cy="2286000"/>
          </a:xfrm>
          <a:prstGeom prst="roundRect">
            <a:avLst>
              <a:gd name="adj" fmla="val 2800"/>
            </a:avLst>
          </a:prstGeom>
          <a:solidFill>
            <a:srgbClr val="1621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2688" y="4187952"/>
            <a:ext cx="146304" cy="146304"/>
          </a:xfrm>
          <a:prstGeom prst="ellipse">
            <a:avLst/>
          </a:prstGeom>
          <a:solidFill>
            <a:srgbClr val="E553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88720" y="4187952"/>
            <a:ext cx="146304" cy="1463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444752" y="4187952"/>
            <a:ext cx="146304" cy="146304"/>
          </a:xfrm>
          <a:prstGeom prst="ellipse">
            <a:avLst/>
          </a:prstGeom>
          <a:solidFill>
            <a:srgbClr val="3FB68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0" y="4142232"/>
            <a:ext cx="9326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chemml baseline — verified notebook code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526280"/>
            <a:ext cx="10058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chemml.models import MLP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model_chemml = MLP(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engine='pytorch', nfeatures=12, nneurons=[64, 64, 1],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activations=['ReLU', 'ReLU', 'linear'], learning_rate=0.001,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nepochs=2000, batch_size=14, loss='mean_squared_error',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is_regression=True, opt_config='adam'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63040"/>
          <a:ext cx="63093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200900" y="1074759"/>
            <a:ext cx="4297680" cy="16227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kern="0" spc="150" dirty="0" err="1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PyTorch</a:t>
            </a:r>
            <a:r>
              <a:rPr lang="en-US" sz="1600" b="1" dirty="0"/>
              <a:t> </a:t>
            </a:r>
            <a:r>
              <a:rPr lang="en-US" sz="1600" dirty="0"/>
              <a:t>achieves significantly lower error (5.30%) compared to the </a:t>
            </a:r>
            <a:r>
              <a:rPr lang="en-US" sz="1600" b="1" kern="0" spc="150" dirty="0" err="1">
                <a:solidFill>
                  <a:srgbClr val="1C7293"/>
                </a:solidFill>
                <a:latin typeface="Calibri" pitchFamily="34" charset="0"/>
                <a:cs typeface="Calibri" pitchFamily="34" charset="-120"/>
              </a:rPr>
              <a:t>ChemML</a:t>
            </a:r>
            <a:r>
              <a:rPr lang="en-US" sz="1600" dirty="0"/>
              <a:t> baseline (21.61%).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Note: The models solve different prediction tasks (see Methods).</a:t>
            </a:r>
            <a:endParaRPr lang="en-US" sz="1600" dirty="0">
              <a:effectLst/>
            </a:endParaRPr>
          </a:p>
        </p:txBody>
      </p:sp>
      <p:sp>
        <p:nvSpPr>
          <p:cNvPr id="6" name="Shape 3"/>
          <p:cNvSpPr/>
          <p:nvPr/>
        </p:nvSpPr>
        <p:spPr>
          <a:xfrm>
            <a:off x="7200900" y="2880360"/>
            <a:ext cx="4434840" cy="3566160"/>
          </a:xfrm>
          <a:prstGeom prst="roundRect">
            <a:avLst>
              <a:gd name="adj" fmla="val 1795"/>
            </a:avLst>
          </a:prstGeom>
          <a:solidFill>
            <a:srgbClr val="1621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1B59B1-7510-194D-C5F3-575D99CEAD69}"/>
              </a:ext>
            </a:extLst>
          </p:cNvPr>
          <p:cNvGrpSpPr/>
          <p:nvPr/>
        </p:nvGrpSpPr>
        <p:grpSpPr>
          <a:xfrm>
            <a:off x="7365492" y="3056128"/>
            <a:ext cx="658368" cy="146304"/>
            <a:chOff x="7333488" y="2587752"/>
            <a:chExt cx="658368" cy="146304"/>
          </a:xfrm>
        </p:grpSpPr>
        <p:sp>
          <p:nvSpPr>
            <p:cNvPr id="7" name="Shape 4"/>
            <p:cNvSpPr/>
            <p:nvPr/>
          </p:nvSpPr>
          <p:spPr>
            <a:xfrm>
              <a:off x="7333488" y="2587752"/>
              <a:ext cx="146304" cy="146304"/>
            </a:xfrm>
            <a:prstGeom prst="ellipse">
              <a:avLst/>
            </a:prstGeom>
            <a:solidFill>
              <a:srgbClr val="E5534B"/>
            </a:solidFill>
            <a:ln w="1270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5"/>
            <p:cNvSpPr/>
            <p:nvPr/>
          </p:nvSpPr>
          <p:spPr>
            <a:xfrm>
              <a:off x="7589520" y="2587752"/>
              <a:ext cx="146304" cy="146304"/>
            </a:xfrm>
            <a:prstGeom prst="ellipse">
              <a:avLst/>
            </a:prstGeom>
            <a:solidFill>
              <a:srgbClr val="E8A33D"/>
            </a:solidFill>
            <a:ln w="1270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7845552" y="2587752"/>
              <a:ext cx="146304" cy="146304"/>
            </a:xfrm>
            <a:prstGeom prst="ellipse">
              <a:avLst/>
            </a:prstGeom>
            <a:solidFill>
              <a:srgbClr val="3FB68B"/>
            </a:solidFill>
            <a:ln w="1270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 8"/>
          <p:cNvSpPr/>
          <p:nvPr/>
        </p:nvSpPr>
        <p:spPr>
          <a:xfrm>
            <a:off x="7475220" y="3337560"/>
            <a:ext cx="3886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S1000: Actual=0.9426, Pred=1.1350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Error=20.41%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S1200: Actual=0.8295, Pred=1.0811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Error=30.33%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S1180: Actual=0.8610, Pred=0.8682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Error=0.83%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S1010: Actual=1.2144, Pred=0.4546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Error=62.56%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S1050: Actual=-1.3183, Pred=-1.1160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Error=15.35%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S1090: Actual=-1.7744, Pred=-1.8609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Error=4.87%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 overall: 5.30%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ChemML overall: 21.61%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Convergence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FFNN — full run, notebook 02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5212080"/>
            <a:ext cx="10881360" cy="150876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41248" y="5376672"/>
            <a:ext cx="146304" cy="146304"/>
          </a:xfrm>
          <a:prstGeom prst="ellipse">
            <a:avLst/>
          </a:prstGeom>
          <a:solidFill>
            <a:srgbClr val="E5534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97280" y="5376672"/>
            <a:ext cx="146304" cy="1463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353312" y="5376672"/>
            <a:ext cx="146304" cy="146304"/>
          </a:xfrm>
          <a:prstGeom prst="ellipse">
            <a:avLst/>
          </a:prstGeom>
          <a:solidFill>
            <a:srgbClr val="3FB68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737360" y="5330952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call — verified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5715000"/>
            <a:ext cx="1033272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plt.subplots(1, 2, figsize=(12, 4))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axes[0].plot(losses); axes[0].set_yscale('log')   # Training Loss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8EB2A7-599E-2CD0-0476-E06D81207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7820"/>
            <a:ext cx="10881360" cy="3627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proof of concept does not yet claim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9040" y="19659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of 23 staged molecules converged; only 6 held out for testing,  no cross-validation across the full set yet.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7F9FA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B8862B"/>
                </a:solidFill>
                <a:latin typeface="Calibri" pitchFamily="34" charset="0"/>
                <a:cs typeface="Calibri" pitchFamily="34" charset="-120"/>
              </a:rPr>
              <a:t>Orbital-CI Coupling Gap</a:t>
            </a:r>
          </a:p>
        </p:txBody>
      </p:sp>
      <p:sp>
        <p:nvSpPr>
          <p:cNvPr id="10" name="Text 8"/>
          <p:cNvSpPr/>
          <p:nvPr/>
        </p:nvSpPr>
        <p:spPr>
          <a:xfrm>
            <a:off x="3749040" y="31089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orbital–CI coupling block remains inaccessible via PySCF's gen_g_hop and is not addressed by this pipeline.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7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4251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CASSCF ≠ ResHF</a:t>
            </a:r>
            <a:endParaRPr lang="en-US" sz="1500" dirty="0">
              <a:solidFill>
                <a:srgbClr val="C0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749040" y="42519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Orthogonal-orbital </a:t>
            </a: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CASSCF is a proxy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structural stand-in for ResHF's nonorthogonal formulation.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530352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7F9FA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5394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ChemML comparison caveat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49040" y="53949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21.61% ChemML figure reflects a 1-dim proxy target, not a fair capability ranking against PyTorch.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CASSCF to ResHF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07040" cy="109728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→ ML → Hessian diagonal: a template for eventual ResHF-specific Hessian learning, once nonorthogonal orbital structure is incorporated.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32918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across all 20 INVEST molecules (per-molecule error analysis)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402336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on the 12 SCF-level descriptors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75488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feature representation toward nonorthogonal (ResHF) orbital structure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5321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548640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learned/approximate Hessian into second-order ResHF optimizer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5029200" cy="502920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212848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20116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an ML pipeline predicting the CI Hessian diagonal from cheap SCF-level features on CASSCF(6,6)/def2-SVP.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990088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7889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5.30% relative error on held-out INVEST molecules for the full 400-dim target.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767328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honestly-scoped proof of concept ,  with a clear path toward ResHF's second-order optimization.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8463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" y="5175505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1487</Words>
  <Application>Microsoft Macintosh PowerPoint</Application>
  <PresentationFormat>Widescreen</PresentationFormat>
  <Paragraphs>235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Cambria</vt:lpstr>
      <vt:lpstr>Cambria Math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Qabas Alkhatib</cp:lastModifiedBy>
  <cp:revision>22</cp:revision>
  <dcterms:created xsi:type="dcterms:W3CDTF">2026-07-13T16:07:19Z</dcterms:created>
  <dcterms:modified xsi:type="dcterms:W3CDTF">2026-07-16T20:58:40Z</dcterms:modified>
</cp:coreProperties>
</file>